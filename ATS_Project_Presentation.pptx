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AI-Enabled Applicant Tracking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Resume Screening &amp; Recruitment Management</a:t>
            </a:r>
          </a:p>
          <a:p>
            <a:r>
              <a:t>Spring Boot Application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🎯 Purpose: Streamline recruitment with AI-powered automation</a:t>
            </a:r>
          </a:p>
          <a:p>
            <a:pPr>
              <a:spcAft>
                <a:spcPts val="1200"/>
              </a:spcAft>
              <a:defRPr sz="1800"/>
            </a:pPr>
            <a:r>
              <a:t>🤖 Core Feature: Intelligent resume screening algorithm</a:t>
            </a:r>
          </a:p>
          <a:p>
            <a:pPr>
              <a:spcAft>
                <a:spcPts val="1200"/>
              </a:spcAft>
              <a:defRPr sz="1800"/>
            </a:pPr>
            <a:r>
              <a:t>👥 Target Users: HR teams, recruiters, and job candidates</a:t>
            </a:r>
          </a:p>
          <a:p>
            <a:pPr>
              <a:spcAft>
                <a:spcPts val="1200"/>
              </a:spcAft>
              <a:defRPr sz="1800"/>
            </a:pPr>
            <a:r>
              <a:t>⚡ Key Benefit: Reduce manual screening time by 80%+</a:t>
            </a:r>
          </a:p>
          <a:p>
            <a:pPr>
              <a:spcAft>
                <a:spcPts val="1200"/>
              </a:spcAft>
              <a:defRPr sz="1800"/>
            </a:pPr>
            <a:r>
              <a:t>🔐 Security: Role-based access control with Spring Security</a:t>
            </a:r>
          </a:p>
          <a:p>
            <a:pPr>
              <a:spcAft>
                <a:spcPts val="1200"/>
              </a:spcAft>
              <a:defRPr sz="1800"/>
            </a:pPr>
            <a:r>
              <a:t>📊 Analytics: Comprehensive recruitment workflow tracking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Backend: Spring Boot 2.2.0 (Java 11)</a:t>
            </a:r>
          </a:p>
          <a:p>
            <a:pPr>
              <a:spcAft>
                <a:spcPts val="1200"/>
              </a:spcAft>
              <a:defRPr sz="1800"/>
            </a:pPr>
            <a:r>
              <a:t>Security: Spring Security with Custom Authentication</a:t>
            </a:r>
          </a:p>
          <a:p>
            <a:pPr>
              <a:spcAft>
                <a:spcPts val="1200"/>
              </a:spcAft>
              <a:defRPr sz="1800"/>
            </a:pPr>
            <a:r>
              <a:t>Database: PostgreSQL with JPA/Hibernate ORM</a:t>
            </a:r>
          </a:p>
          <a:p>
            <a:pPr>
              <a:spcAft>
                <a:spcPts val="1200"/>
              </a:spcAft>
              <a:defRPr sz="1800"/>
            </a:pPr>
            <a:r>
              <a:t>Frontend: Thymeleaf Template Engine + HTML/CSS/JS</a:t>
            </a:r>
          </a:p>
          <a:p>
            <a:pPr>
              <a:spcAft>
                <a:spcPts val="1200"/>
              </a:spcAft>
              <a:defRPr sz="1800"/>
            </a:pPr>
            <a:r>
              <a:t>Build Tool: Apache Maven</a:t>
            </a:r>
          </a:p>
          <a:p>
            <a:pPr>
              <a:spcAft>
                <a:spcPts val="1200"/>
              </a:spcAft>
              <a:defRPr sz="1800"/>
            </a:pPr>
            <a:r>
              <a:t>AI Component: Custom resume analysis algorithm</a:t>
            </a:r>
          </a:p>
          <a:p>
            <a:pPr>
              <a:spcAft>
                <a:spcPts val="1200"/>
              </a:spcAft>
              <a:defRPr sz="1800"/>
            </a:pPr>
            <a:r>
              <a:t>Code Quality: Lombok for clean code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🤖 AI Resume Screening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Automated Analysis: Instant evaluation upon application submission</a:t>
            </a:r>
          </a:p>
          <a:p>
            <a:pPr>
              <a:spcAft>
                <a:spcPts val="1200"/>
              </a:spcAft>
              <a:defRPr sz="1800"/>
            </a:pPr>
            <a:r>
              <a:t>Skills Matching: Compares resume skills with job requirements</a:t>
            </a:r>
          </a:p>
          <a:p>
            <a:pPr>
              <a:spcAft>
                <a:spcPts val="1200"/>
              </a:spcAft>
              <a:defRPr sz="1800"/>
            </a:pPr>
            <a:r>
              <a:t>Keyword Extraction: Identifies relevant technical terms</a:t>
            </a:r>
          </a:p>
          <a:p>
            <a:pPr>
              <a:spcAft>
                <a:spcPts val="1200"/>
              </a:spcAft>
              <a:defRPr sz="1800"/>
            </a:pPr>
            <a:r>
              <a:t>Experience Scoring: Evaluates candidate background</a:t>
            </a:r>
          </a:p>
          <a:p>
            <a:pPr>
              <a:spcAft>
                <a:spcPts val="1200"/>
              </a:spcAft>
              <a:defRPr sz="1800"/>
            </a:pPr>
            <a:r>
              <a:t>Match Score: Provides 0-100% compatibility rating</a:t>
            </a:r>
          </a:p>
          <a:p>
            <a:pPr>
              <a:spcAft>
                <a:spcPts val="1200"/>
              </a:spcAft>
              <a:defRPr sz="1800"/>
            </a:pPr>
            <a:r>
              <a:t>Explainable AI: Shows matched keywords for transparency</a:t>
            </a:r>
          </a:p>
          <a:p>
            <a:pPr>
              <a:spcAft>
                <a:spcPts val="1200"/>
              </a:spcAft>
              <a:defRPr sz="1800"/>
            </a:pPr>
            <a:r>
              <a:t>Location: AIResumeScreeningService.analyzeResume()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System Architecture (MVC Pattern)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Controllers: Role-based API endpoints</a:t>
            </a:r>
          </a:p>
          <a:p>
            <a:pPr>
              <a:spcAft>
                <a:spcPts val="1200"/>
              </a:spcAft>
              <a:defRPr sz="1800"/>
            </a:pPr>
            <a:r>
              <a:t>  • AdminController - System administration</a:t>
            </a:r>
          </a:p>
          <a:p>
            <a:pPr>
              <a:spcAft>
                <a:spcPts val="1200"/>
              </a:spcAft>
              <a:defRPr sz="1800"/>
            </a:pPr>
            <a:r>
              <a:t>  • RecruitmentController - Job &amp; application management</a:t>
            </a:r>
          </a:p>
          <a:p>
            <a:pPr>
              <a:spcAft>
                <a:spcPts val="1200"/>
              </a:spcAft>
              <a:defRPr sz="1800"/>
            </a:pPr>
            <a:r>
              <a:t>  • LoginController - Authentication handling</a:t>
            </a:r>
          </a:p>
          <a:p>
            <a:pPr>
              <a:spcAft>
                <a:spcPts val="1200"/>
              </a:spcAft>
              <a:defRPr sz="1800"/>
            </a:pPr>
            <a:r>
              <a:t>Services: Business logic with AI integration</a:t>
            </a:r>
          </a:p>
          <a:p>
            <a:pPr>
              <a:spcAft>
                <a:spcPts val="1200"/>
              </a:spcAft>
              <a:defRPr sz="1800"/>
            </a:pPr>
            <a:r>
              <a:t>  • AIResumeScreeningService - Core AI functionality</a:t>
            </a:r>
          </a:p>
          <a:p>
            <a:pPr>
              <a:spcAft>
                <a:spcPts val="1200"/>
              </a:spcAft>
              <a:defRPr sz="1800"/>
            </a:pPr>
            <a:r>
              <a:t>  • RecruitmentService - Workflow orchestration</a:t>
            </a:r>
          </a:p>
          <a:p>
            <a:pPr>
              <a:spcAft>
                <a:spcPts val="1200"/>
              </a:spcAft>
              <a:defRPr sz="1800"/>
            </a:pPr>
            <a:r>
              <a:t>Repositories: JPA data access with custom queries</a:t>
            </a:r>
          </a:p>
          <a:p>
            <a:pPr>
              <a:spcAft>
                <a:spcPts val="1200"/>
              </a:spcAft>
              <a:defRPr sz="1800"/>
            </a:pPr>
            <a:r>
              <a:t>Models: Comprehensive recruitment domain entities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User Roles &amp;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/>
            </a:pPr>
            <a:r>
              <a:t>👨‍💼 ADMIN</a:t>
            </a:r>
          </a:p>
          <a:p>
            <a:pPr>
              <a:spcAft>
                <a:spcPts val="1000"/>
              </a:spcAft>
              <a:defRPr sz="1600"/>
            </a:pPr>
            <a:r>
              <a:t>• User management</a:t>
            </a:r>
          </a:p>
          <a:p>
            <a:pPr>
              <a:spcAft>
                <a:spcPts val="1000"/>
              </a:spcAft>
              <a:defRPr sz="1600"/>
            </a:pPr>
            <a:r>
              <a:t>• System configuration</a:t>
            </a:r>
          </a:p>
          <a:p>
            <a:pPr>
              <a:spcAft>
                <a:spcPts val="1000"/>
              </a:spcAft>
              <a:defRPr sz="1600"/>
            </a:pPr>
            <a:r>
              <a:t>• Full data access</a:t>
            </a:r>
          </a:p>
          <a:p>
            <a:pPr>
              <a:spcAft>
                <a:spcPts val="1000"/>
              </a:spcAft>
              <a:defRPr sz="1600"/>
            </a:pPr>
            <a:r>
              <a:t>• Analytics dashboard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👔 RECRUITER</a:t>
            </a:r>
          </a:p>
          <a:p>
            <a:pPr>
              <a:spcAft>
                <a:spcPts val="1000"/>
              </a:spcAft>
              <a:defRPr sz="1600"/>
            </a:pPr>
            <a:r>
              <a:t>• Create job postings</a:t>
            </a:r>
          </a:p>
          <a:p>
            <a:pPr>
              <a:spcAft>
                <a:spcPts val="1000"/>
              </a:spcAft>
              <a:defRPr sz="1600"/>
            </a:pPr>
            <a:r>
              <a:t>• Review applications</a:t>
            </a:r>
          </a:p>
          <a:p>
            <a:pPr>
              <a:spcAft>
                <a:spcPts val="1000"/>
              </a:spcAft>
              <a:defRPr sz="1600"/>
            </a:pPr>
            <a:r>
              <a:t>• View AI scores</a:t>
            </a:r>
          </a:p>
          <a:p>
            <a:pPr>
              <a:spcAft>
                <a:spcPts val="1000"/>
              </a:spcAft>
              <a:defRPr sz="1600"/>
            </a:pPr>
            <a:r>
              <a:t>• Schedule interviews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8288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/>
            </a:pPr>
            <a:r>
              <a:t>👤 CANDIDATE</a:t>
            </a:r>
          </a:p>
          <a:p>
            <a:pPr>
              <a:spcAft>
                <a:spcPts val="1000"/>
              </a:spcAft>
              <a:defRPr sz="1600"/>
            </a:pPr>
            <a:r>
              <a:t>• Browse job openings</a:t>
            </a:r>
          </a:p>
          <a:p>
            <a:pPr>
              <a:spcAft>
                <a:spcPts val="1000"/>
              </a:spcAft>
              <a:defRPr sz="1600"/>
            </a:pPr>
            <a:r>
              <a:t>• Submit applications</a:t>
            </a:r>
          </a:p>
          <a:p>
            <a:pPr>
              <a:spcAft>
                <a:spcPts val="1000"/>
              </a:spcAft>
              <a:defRPr sz="1600"/>
            </a:pPr>
            <a:r>
              <a:t>• Upload resumes</a:t>
            </a:r>
          </a:p>
          <a:p>
            <a:pPr>
              <a:spcAft>
                <a:spcPts val="1000"/>
              </a:spcAft>
              <a:defRPr sz="1600"/>
            </a:pPr>
            <a:r>
              <a:t>• Track status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🔐 Security Features</a:t>
            </a:r>
          </a:p>
          <a:p>
            <a:pPr>
              <a:spcAft>
                <a:spcPts val="1000"/>
              </a:spcAft>
              <a:defRPr sz="1600"/>
            </a:pPr>
            <a:r>
              <a:t>• BCrypt encryption</a:t>
            </a:r>
          </a:p>
          <a:p>
            <a:pPr>
              <a:spcAft>
                <a:spcPts val="1000"/>
              </a:spcAft>
              <a:defRPr sz="1600"/>
            </a:pPr>
            <a:r>
              <a:t>• Domain-based roles</a:t>
            </a:r>
          </a:p>
          <a:p>
            <a:pPr>
              <a:spcAft>
                <a:spcPts val="1000"/>
              </a:spcAft>
              <a:defRPr sz="1600"/>
            </a:pPr>
            <a:r>
              <a:t>• Session management</a:t>
            </a:r>
          </a:p>
          <a:p>
            <a:pPr>
              <a:spcAft>
                <a:spcPts val="1000"/>
              </a:spcAft>
              <a:defRPr sz="1600"/>
            </a:pPr>
            <a:r>
              <a:t>• CSRF protection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Database Schema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📋 job_postings: Job details with required skills</a:t>
            </a:r>
          </a:p>
          <a:p>
            <a:pPr>
              <a:spcAft>
                <a:spcPts val="1200"/>
              </a:spcAft>
              <a:defRPr sz="1800"/>
            </a:pPr>
            <a:r>
              <a:t>📝 applications: Submissions with AI scoring fields</a:t>
            </a:r>
          </a:p>
          <a:p>
            <a:pPr>
              <a:spcAft>
                <a:spcPts val="1200"/>
              </a:spcAft>
              <a:defRPr sz="1800"/>
            </a:pPr>
            <a:r>
              <a:t>  • ai_score: Match percentage (0-100)</a:t>
            </a:r>
          </a:p>
          <a:p>
            <a:pPr>
              <a:spcAft>
                <a:spcPts val="1200"/>
              </a:spcAft>
              <a:defRPr sz="1800"/>
            </a:pPr>
            <a:r>
              <a:t>  • ai_match_keywords: Extracted relevant terms</a:t>
            </a:r>
          </a:p>
          <a:p>
            <a:pPr>
              <a:spcAft>
                <a:spcPts val="1200"/>
              </a:spcAft>
              <a:defRPr sz="1800"/>
            </a:pPr>
            <a:r>
              <a:t>👥 user_details: User profiles with role assignments</a:t>
            </a:r>
          </a:p>
          <a:p>
            <a:pPr>
              <a:spcAft>
                <a:spcPts val="1200"/>
              </a:spcAft>
              <a:defRPr sz="1800"/>
            </a:pPr>
            <a:r>
              <a:t>📎 upload_files: Resume storage with text extraction</a:t>
            </a:r>
          </a:p>
          <a:p>
            <a:pPr>
              <a:spcAft>
                <a:spcPts val="1200"/>
              </a:spcAft>
              <a:defRPr sz="1800"/>
            </a:pPr>
            <a:r>
              <a:t>🔗 Relationships: Optimized for recruitment workflow</a:t>
            </a:r>
          </a:p>
          <a:p>
            <a:pPr>
              <a:spcAft>
                <a:spcPts val="1200"/>
              </a:spcAft>
              <a:defRPr sz="1800"/>
            </a:pPr>
            <a:r>
              <a:t>🗄️ PostgreSQL: Ensures data integrity and ACID compliance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Key Features &amp; Functionality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/>
            </a:pPr>
            <a:r>
              <a:t>✅ Automated Features</a:t>
            </a:r>
          </a:p>
          <a:p>
            <a:pPr>
              <a:spcAft>
                <a:spcPts val="1000"/>
              </a:spcAft>
              <a:defRPr sz="1600"/>
            </a:pPr>
            <a:r>
              <a:t>• AI resume screening</a:t>
            </a:r>
          </a:p>
          <a:p>
            <a:pPr>
              <a:spcAft>
                <a:spcPts val="1000"/>
              </a:spcAft>
              <a:defRPr sz="1600"/>
            </a:pPr>
            <a:r>
              <a:t>• Auto score calculation</a:t>
            </a:r>
          </a:p>
          <a:p>
            <a:pPr>
              <a:spcAft>
                <a:spcPts val="1000"/>
              </a:spcAft>
              <a:defRPr sz="1600"/>
            </a:pPr>
            <a:r>
              <a:t>• Email notifications</a:t>
            </a:r>
          </a:p>
          <a:p>
            <a:pPr>
              <a:spcAft>
                <a:spcPts val="1000"/>
              </a:spcAft>
              <a:defRPr sz="1600"/>
            </a:pPr>
            <a:r>
              <a:t>• Status tracking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📊 Recruitment Tools</a:t>
            </a:r>
          </a:p>
          <a:p>
            <a:pPr>
              <a:spcAft>
                <a:spcPts val="1000"/>
              </a:spcAft>
              <a:defRPr sz="1600"/>
            </a:pPr>
            <a:r>
              <a:t>• Job posting management</a:t>
            </a:r>
          </a:p>
          <a:p>
            <a:pPr>
              <a:spcAft>
                <a:spcPts val="1000"/>
              </a:spcAft>
              <a:defRPr sz="1600"/>
            </a:pPr>
            <a:r>
              <a:t>• Application dashboard</a:t>
            </a:r>
          </a:p>
          <a:p>
            <a:pPr>
              <a:spcAft>
                <a:spcPts val="1000"/>
              </a:spcAft>
              <a:defRPr sz="1600"/>
            </a:pPr>
            <a:r>
              <a:t>• Interview scheduling</a:t>
            </a:r>
          </a:p>
          <a:p>
            <a:pPr>
              <a:spcAft>
                <a:spcPts val="1000"/>
              </a:spcAft>
              <a:defRPr sz="1600"/>
            </a:pPr>
            <a:r>
              <a:t>• Candidate filtering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8288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/>
            </a:pPr>
            <a:r>
              <a:t>📁 File Management</a:t>
            </a:r>
          </a:p>
          <a:p>
            <a:pPr>
              <a:spcAft>
                <a:spcPts val="1000"/>
              </a:spcAft>
              <a:defRPr sz="1600"/>
            </a:pPr>
            <a:r>
              <a:t>• Secure resume upload (3MB)</a:t>
            </a:r>
          </a:p>
          <a:p>
            <a:pPr>
              <a:spcAft>
                <a:spcPts val="1000"/>
              </a:spcAft>
              <a:defRPr sz="1600"/>
            </a:pPr>
            <a:r>
              <a:t>• UUID-based naming</a:t>
            </a:r>
          </a:p>
          <a:p>
            <a:pPr>
              <a:spcAft>
                <a:spcPts val="1000"/>
              </a:spcAft>
              <a:defRPr sz="1600"/>
            </a:pPr>
            <a:r>
              <a:t>• Text extraction</a:t>
            </a:r>
          </a:p>
          <a:p>
            <a:pPr>
              <a:spcAft>
                <a:spcPts val="1000"/>
              </a:spcAft>
              <a:defRPr sz="1600"/>
            </a:pPr>
            <a:r>
              <a:t>• Multi-format support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🔍 Advanced Search</a:t>
            </a:r>
          </a:p>
          <a:p>
            <a:pPr>
              <a:spcAft>
                <a:spcPts val="1000"/>
              </a:spcAft>
              <a:defRPr sz="1600"/>
            </a:pPr>
            <a:r>
              <a:t>• Skill-based filtering</a:t>
            </a:r>
          </a:p>
          <a:p>
            <a:pPr>
              <a:spcAft>
                <a:spcPts val="1000"/>
              </a:spcAft>
              <a:defRPr sz="1600"/>
            </a:pPr>
            <a:r>
              <a:t>• AI score sorting</a:t>
            </a:r>
          </a:p>
          <a:p>
            <a:pPr>
              <a:spcAft>
                <a:spcPts val="1000"/>
              </a:spcAft>
              <a:defRPr sz="1600"/>
            </a:pPr>
            <a:r>
              <a:t>• Status-based views</a:t>
            </a:r>
          </a:p>
          <a:p>
            <a:pPr>
              <a:spcAft>
                <a:spcPts val="1000"/>
              </a:spcAft>
              <a:defRPr sz="1600"/>
            </a:pPr>
            <a:r>
              <a:t>• Keyword search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AI Resume Screening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1️⃣ Candidate uploads resume during application</a:t>
            </a:r>
          </a:p>
          <a:p>
            <a:pPr>
              <a:spcAft>
                <a:spcPts val="1200"/>
              </a:spcAft>
              <a:defRPr sz="1800"/>
            </a:pPr>
            <a:r>
              <a:t>2️⃣ System extracts text from uploaded file</a:t>
            </a:r>
          </a:p>
          <a:p>
            <a:pPr>
              <a:spcAft>
                <a:spcPts val="1200"/>
              </a:spcAft>
              <a:defRPr sz="1800"/>
            </a:pPr>
            <a:r>
              <a:t>3️⃣ AIResumeScreeningService.analyzeResume() triggered</a:t>
            </a:r>
          </a:p>
          <a:p>
            <a:pPr>
              <a:spcAft>
                <a:spcPts val="1200"/>
              </a:spcAft>
              <a:defRPr sz="1800"/>
            </a:pPr>
            <a:r>
              <a:t>4️⃣ Algorithm processes:</a:t>
            </a:r>
          </a:p>
          <a:p>
            <a:pPr>
              <a:spcAft>
                <a:spcPts val="1200"/>
              </a:spcAft>
              <a:defRPr sz="1800"/>
            </a:pPr>
            <a:r>
              <a:t>   • Skill matching against job requirements</a:t>
            </a:r>
          </a:p>
          <a:p>
            <a:pPr>
              <a:spcAft>
                <a:spcPts val="1200"/>
              </a:spcAft>
              <a:defRPr sz="1800"/>
            </a:pPr>
            <a:r>
              <a:t>   • Keyword identification and extraction</a:t>
            </a:r>
          </a:p>
          <a:p>
            <a:pPr>
              <a:spcAft>
                <a:spcPts val="1200"/>
              </a:spcAft>
              <a:defRPr sz="1800"/>
            </a:pPr>
            <a:r>
              <a:t>   • Experience level assessment</a:t>
            </a:r>
          </a:p>
          <a:p>
            <a:pPr>
              <a:spcAft>
                <a:spcPts val="1200"/>
              </a:spcAft>
              <a:defRPr sz="1800"/>
            </a:pPr>
            <a:r>
              <a:t>5️⃣ Match score (0-100%) calculated and stored</a:t>
            </a:r>
          </a:p>
          <a:p>
            <a:pPr>
              <a:spcAft>
                <a:spcPts val="1200"/>
              </a:spcAft>
              <a:defRPr sz="1800"/>
            </a:pPr>
            <a:r>
              <a:t>6️⃣ Recruiter views ranked applications with AI insights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Security &amp;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🔐 Spring Security Framework</a:t>
            </a:r>
          </a:p>
          <a:p>
            <a:pPr>
              <a:spcAft>
                <a:spcPts val="1200"/>
              </a:spcAft>
              <a:defRPr sz="1800"/>
            </a:pPr>
            <a:r>
              <a:t>  • Custom authentication provider</a:t>
            </a:r>
          </a:p>
          <a:p>
            <a:pPr>
              <a:spcAft>
                <a:spcPts val="1200"/>
              </a:spcAft>
              <a:defRPr sz="1800"/>
            </a:pPr>
            <a:r>
              <a:t>  • Role-based authorization</a:t>
            </a:r>
          </a:p>
          <a:p>
            <a:pPr>
              <a:spcAft>
                <a:spcPts val="1200"/>
              </a:spcAft>
              <a:defRPr sz="1800"/>
            </a:pPr>
            <a:r>
              <a:t>  • Session management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🛡️ Security Features</a:t>
            </a:r>
          </a:p>
          <a:p>
            <a:pPr>
              <a:spcAft>
                <a:spcPts val="1200"/>
              </a:spcAft>
              <a:defRPr sz="1800"/>
            </a:pPr>
            <a:r>
              <a:t>  • BCrypt password encoding (default: Ats@ABC)</a:t>
            </a:r>
          </a:p>
          <a:p>
            <a:pPr>
              <a:spcAft>
                <a:spcPts val="1200"/>
              </a:spcAft>
              <a:defRPr sz="1800"/>
            </a:pPr>
            <a:r>
              <a:t>  • Domain-based role assignment (@ats.com)</a:t>
            </a:r>
          </a:p>
          <a:p>
            <a:pPr>
              <a:spcAft>
                <a:spcPts val="1200"/>
              </a:spcAft>
              <a:defRPr sz="1800"/>
            </a:pPr>
            <a:r>
              <a:t>  • Role hierarchy: ADMIN → RECRUITER → CANDIDATE</a:t>
            </a:r>
          </a:p>
          <a:p>
            <a:pPr>
              <a:spcAft>
                <a:spcPts val="1200"/>
              </a:spcAft>
              <a:defRPr sz="1800"/>
            </a:pPr>
            <a:r>
              <a:t>  • CSRF token protection</a:t>
            </a:r>
          </a:p>
          <a:p>
            <a:pPr>
              <a:spcAft>
                <a:spcPts val="1200"/>
              </a:spcAft>
              <a:defRPr sz="1800"/>
            </a:pPr>
            <a:r>
              <a:t>  • Secure file upload validation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Implementation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✨ Clean Code: Lombok annotations reduce boilerplate</a:t>
            </a:r>
          </a:p>
          <a:p>
            <a:pPr>
              <a:spcAft>
                <a:spcPts val="1200"/>
              </a:spcAft>
              <a:defRPr sz="1800"/>
            </a:pPr>
            <a:r>
              <a:t>🏗️ MVC Architecture: Separation of concerns</a:t>
            </a:r>
          </a:p>
          <a:p>
            <a:pPr>
              <a:spcAft>
                <a:spcPts val="1200"/>
              </a:spcAft>
              <a:defRPr sz="1800"/>
            </a:pPr>
            <a:r>
              <a:t>🔄 Service Layer: Reusable business logic</a:t>
            </a:r>
          </a:p>
          <a:p>
            <a:pPr>
              <a:spcAft>
                <a:spcPts val="1200"/>
              </a:spcAft>
              <a:defRPr sz="1800"/>
            </a:pPr>
            <a:r>
              <a:t>📦 Repository Pattern: Clean data access</a:t>
            </a:r>
          </a:p>
          <a:p>
            <a:pPr>
              <a:spcAft>
                <a:spcPts val="1200"/>
              </a:spcAft>
              <a:defRPr sz="1800"/>
            </a:pPr>
            <a:r>
              <a:t>🎨 Thymeleaf Templates: Dynamic server-side rendering</a:t>
            </a:r>
          </a:p>
          <a:p>
            <a:pPr>
              <a:spcAft>
                <a:spcPts val="1200"/>
              </a:spcAft>
              <a:defRPr sz="1800"/>
            </a:pPr>
            <a:r>
              <a:t>🧪 Testing: Functional test scripts provided</a:t>
            </a:r>
          </a:p>
          <a:p>
            <a:pPr>
              <a:spcAft>
                <a:spcPts val="1200"/>
              </a:spcAft>
              <a:defRPr sz="1800"/>
            </a:pPr>
            <a:r>
              <a:t>📖 Documentation: Comprehensive CLAUDE.md guide</a:t>
            </a:r>
          </a:p>
          <a:p>
            <a:pPr>
              <a:spcAft>
                <a:spcPts val="1200"/>
              </a:spcAft>
              <a:defRPr sz="1800"/>
            </a:pPr>
            <a:r>
              <a:t>🚀 Deployment: Docker-ready with health checks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Testing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🧪 Unit Testing: JUnit framework for service layer</a:t>
            </a:r>
          </a:p>
          <a:p>
            <a:pPr>
              <a:spcAft>
                <a:spcPts val="1200"/>
              </a:spcAft>
              <a:defRPr sz="1800"/>
            </a:pPr>
            <a:r>
              <a:t>🔧 Functional Testing:</a:t>
            </a:r>
          </a:p>
          <a:p>
            <a:pPr>
              <a:spcAft>
                <a:spcPts val="1200"/>
              </a:spcAft>
              <a:defRPr sz="1800"/>
            </a:pPr>
            <a:r>
              <a:t>  • test-ai-screening.sh - AI algorithm validation</a:t>
            </a:r>
          </a:p>
          <a:p>
            <a:pPr>
              <a:spcAft>
                <a:spcPts val="1200"/>
              </a:spcAft>
              <a:defRPr sz="1800"/>
            </a:pPr>
            <a:r>
              <a:t>  • verify-implementation.sh - System verification</a:t>
            </a:r>
          </a:p>
          <a:p>
            <a:pPr>
              <a:spcAft>
                <a:spcPts val="1200"/>
              </a:spcAft>
              <a:defRPr sz="1800"/>
            </a:pPr>
            <a:r>
              <a:t>  • RUN_APPLICATION.sh - Build and run checks</a:t>
            </a:r>
          </a:p>
          <a:p>
            <a:pPr>
              <a:spcAft>
                <a:spcPts val="1200"/>
              </a:spcAft>
              <a:defRPr sz="1800"/>
            </a:pPr>
            <a:r>
              <a:t>📊 Manual Testing: Complete recruitment workflow</a:t>
            </a:r>
          </a:p>
          <a:p>
            <a:pPr>
              <a:spcAft>
                <a:spcPts val="1200"/>
              </a:spcAft>
              <a:defRPr sz="1800"/>
            </a:pPr>
            <a:r>
              <a:t>🗄️ Database Verification: PostgreSQL query tests</a:t>
            </a:r>
          </a:p>
          <a:p>
            <a:pPr>
              <a:spcAft>
                <a:spcPts val="1200"/>
              </a:spcAft>
              <a:defRPr sz="1800"/>
            </a:pPr>
            <a:r>
              <a:t>📁 File Upload Testing: Multi-format resume support</a:t>
            </a:r>
          </a:p>
          <a:p>
            <a:pPr>
              <a:spcAft>
                <a:spcPts val="1200"/>
              </a:spcAft>
              <a:defRPr sz="1800"/>
            </a:pPr>
            <a:r>
              <a:t>🔐 Security Testing: Role-based access validation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Project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✅ Fully functional recruitment management system</a:t>
            </a:r>
          </a:p>
          <a:p>
            <a:pPr>
              <a:spcAft>
                <a:spcPts val="1200"/>
              </a:spcAft>
              <a:defRPr sz="1800"/>
            </a:pPr>
            <a:r>
              <a:t>✅ Working AI-powered resume screening algorithm</a:t>
            </a:r>
          </a:p>
          <a:p>
            <a:pPr>
              <a:spcAft>
                <a:spcPts val="1200"/>
              </a:spcAft>
              <a:defRPr sz="1800"/>
            </a:pPr>
            <a:r>
              <a:t>✅ Complete role-based access control implementation</a:t>
            </a:r>
          </a:p>
          <a:p>
            <a:pPr>
              <a:spcAft>
                <a:spcPts val="1200"/>
              </a:spcAft>
              <a:defRPr sz="1800"/>
            </a:pPr>
            <a:r>
              <a:t>✅ Secure file upload and management system</a:t>
            </a:r>
          </a:p>
          <a:p>
            <a:pPr>
              <a:spcAft>
                <a:spcPts val="1200"/>
              </a:spcAft>
              <a:defRPr sz="1800"/>
            </a:pPr>
            <a:r>
              <a:t>✅ Responsive web interface with Thymeleaf</a:t>
            </a:r>
          </a:p>
          <a:p>
            <a:pPr>
              <a:spcAft>
                <a:spcPts val="1200"/>
              </a:spcAft>
              <a:defRPr sz="1800"/>
            </a:pPr>
            <a:r>
              <a:t>✅ PostgreSQL database with optimized schema</a:t>
            </a:r>
          </a:p>
          <a:p>
            <a:pPr>
              <a:spcAft>
                <a:spcPts val="1200"/>
              </a:spcAft>
              <a:defRPr sz="1800"/>
            </a:pPr>
            <a:r>
              <a:t>✅ Production-ready with health monitoring</a:t>
            </a:r>
          </a:p>
          <a:p>
            <a:pPr>
              <a:spcAft>
                <a:spcPts val="1200"/>
              </a:spcAft>
              <a:defRPr sz="1800"/>
            </a:pPr>
            <a:r>
              <a:t>✅ Comprehensive documentation and test suite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Real-World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/>
            </a:pPr>
            <a:r>
              <a:t>💼 For Organizations</a:t>
            </a:r>
          </a:p>
          <a:p>
            <a:pPr>
              <a:spcAft>
                <a:spcPts val="1000"/>
              </a:spcAft>
              <a:defRPr sz="1600"/>
            </a:pPr>
            <a:r>
              <a:t>• 80%+ time savings</a:t>
            </a:r>
          </a:p>
          <a:p>
            <a:pPr>
              <a:spcAft>
                <a:spcPts val="1000"/>
              </a:spcAft>
              <a:defRPr sz="1600"/>
            </a:pPr>
            <a:r>
              <a:t>• Reduced bias</a:t>
            </a:r>
          </a:p>
          <a:p>
            <a:pPr>
              <a:spcAft>
                <a:spcPts val="1000"/>
              </a:spcAft>
              <a:defRPr sz="1600"/>
            </a:pPr>
            <a:r>
              <a:t>• Better candidates</a:t>
            </a:r>
          </a:p>
          <a:p>
            <a:pPr>
              <a:spcAft>
                <a:spcPts val="1000"/>
              </a:spcAft>
              <a:defRPr sz="1600"/>
            </a:pPr>
            <a:r>
              <a:t>• Faster hiring</a:t>
            </a:r>
          </a:p>
          <a:p>
            <a:pPr>
              <a:spcAft>
                <a:spcPts val="1000"/>
              </a:spcAft>
              <a:defRPr sz="1600"/>
            </a:pPr>
            <a:r>
              <a:t>• Cost effective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📈 Scalability</a:t>
            </a:r>
          </a:p>
          <a:p>
            <a:pPr>
              <a:spcAft>
                <a:spcPts val="1000"/>
              </a:spcAft>
              <a:defRPr sz="1600"/>
            </a:pPr>
            <a:r>
              <a:t>• High-volume hiring</a:t>
            </a:r>
          </a:p>
          <a:p>
            <a:pPr>
              <a:spcAft>
                <a:spcPts val="1000"/>
              </a:spcAft>
              <a:defRPr sz="1600"/>
            </a:pPr>
            <a:r>
              <a:t>• Multiple recruiters</a:t>
            </a:r>
          </a:p>
          <a:p>
            <a:pPr>
              <a:spcAft>
                <a:spcPts val="1000"/>
              </a:spcAft>
              <a:defRPr sz="1600"/>
            </a:pPr>
            <a:r>
              <a:t>• Concurrent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8288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/>
            </a:pPr>
            <a:r>
              <a:t>👥 For HR Teams</a:t>
            </a:r>
          </a:p>
          <a:p>
            <a:pPr>
              <a:spcAft>
                <a:spcPts val="1000"/>
              </a:spcAft>
              <a:defRPr sz="1600"/>
            </a:pPr>
            <a:r>
              <a:t>• Automated screening</a:t>
            </a:r>
          </a:p>
          <a:p>
            <a:pPr>
              <a:spcAft>
                <a:spcPts val="1000"/>
              </a:spcAft>
              <a:defRPr sz="1600"/>
            </a:pPr>
            <a:r>
              <a:t>• AI-assisted decisions</a:t>
            </a:r>
          </a:p>
          <a:p>
            <a:pPr>
              <a:spcAft>
                <a:spcPts val="1000"/>
              </a:spcAft>
              <a:defRPr sz="1600"/>
            </a:pPr>
            <a:r>
              <a:t>• Workflow tracking</a:t>
            </a:r>
          </a:p>
          <a:p>
            <a:pPr>
              <a:spcAft>
                <a:spcPts val="1000"/>
              </a:spcAft>
              <a:defRPr sz="1600"/>
            </a:pPr>
            <a:r>
              <a:t>• Easy collaboration</a:t>
            </a:r>
          </a:p>
          <a:p>
            <a:pPr>
              <a:spcAft>
                <a:spcPts val="1000"/>
              </a:spcAft>
              <a:defRPr sz="1600"/>
            </a:pPr>
            <a:r>
              <a:t>• Analytics insights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🎯 For Candidates</a:t>
            </a:r>
          </a:p>
          <a:p>
            <a:pPr>
              <a:spcAft>
                <a:spcPts val="1000"/>
              </a:spcAft>
              <a:defRPr sz="1600"/>
            </a:pPr>
            <a:r>
              <a:t>• Quick applications</a:t>
            </a:r>
          </a:p>
          <a:p>
            <a:pPr>
              <a:spcAft>
                <a:spcPts val="1000"/>
              </a:spcAft>
              <a:defRPr sz="1600"/>
            </a:pPr>
            <a:r>
              <a:t>• Status transparency</a:t>
            </a:r>
          </a:p>
          <a:p>
            <a:pPr>
              <a:spcAft>
                <a:spcPts val="1000"/>
              </a:spcAft>
              <a:defRPr sz="1600"/>
            </a:pPr>
            <a:r>
              <a:t>• Fair evaluation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🤖 Advanced AI: Machine learning models (NLP, GPT integration)</a:t>
            </a:r>
          </a:p>
          <a:p>
            <a:pPr>
              <a:spcAft>
                <a:spcPts val="1200"/>
              </a:spcAft>
              <a:defRPr sz="1800"/>
            </a:pPr>
            <a:r>
              <a:t>📧 Email Integration: Automated candidate communication</a:t>
            </a:r>
          </a:p>
          <a:p>
            <a:pPr>
              <a:spcAft>
                <a:spcPts val="1200"/>
              </a:spcAft>
              <a:defRPr sz="1800"/>
            </a:pPr>
            <a:r>
              <a:t>📱 Mobile App: Native iOS/Android applications</a:t>
            </a:r>
          </a:p>
          <a:p>
            <a:pPr>
              <a:spcAft>
                <a:spcPts val="1200"/>
              </a:spcAft>
              <a:defRPr sz="1800"/>
            </a:pPr>
            <a:r>
              <a:t>🎥 Video Interviews: Integrated video screening</a:t>
            </a:r>
          </a:p>
          <a:p>
            <a:pPr>
              <a:spcAft>
                <a:spcPts val="1200"/>
              </a:spcAft>
              <a:defRPr sz="1800"/>
            </a:pPr>
            <a:r>
              <a:t>📊 Advanced Analytics: Hiring metrics and dashboards</a:t>
            </a:r>
          </a:p>
          <a:p>
            <a:pPr>
              <a:spcAft>
                <a:spcPts val="1200"/>
              </a:spcAft>
              <a:defRPr sz="1800"/>
            </a:pPr>
            <a:r>
              <a:t>🔗 Third-party Integration: LinkedIn, Indeed, job boards</a:t>
            </a:r>
          </a:p>
          <a:p>
            <a:pPr>
              <a:spcAft>
                <a:spcPts val="1200"/>
              </a:spcAft>
              <a:defRPr sz="1800"/>
            </a:pPr>
            <a:r>
              <a:t>🌐 Multi-language Support: International recruitment</a:t>
            </a:r>
          </a:p>
          <a:p>
            <a:pPr>
              <a:spcAft>
                <a:spcPts val="1200"/>
              </a:spcAft>
              <a:defRPr sz="1800"/>
            </a:pPr>
            <a:r>
              <a:t>☁️ Cloud Deployment: AWS/Azure scalable architecture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Live Demo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🌐 Application URL: http://localhost:8080/ats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👤 Demo Credentials:</a:t>
            </a:r>
          </a:p>
          <a:p>
            <a:pPr>
              <a:spcAft>
                <a:spcPts val="1200"/>
              </a:spcAft>
              <a:defRPr sz="1800"/>
            </a:pPr>
            <a:r>
              <a:t>  Admin: admin@ats.com / Admin@ABC</a:t>
            </a:r>
          </a:p>
          <a:p>
            <a:pPr>
              <a:spcAft>
                <a:spcPts val="1200"/>
              </a:spcAft>
              <a:defRPr sz="1800"/>
            </a:pPr>
            <a:r>
              <a:t>  Test Candidates: Available with Ats@ABC password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🔧 Setup Requirements:</a:t>
            </a:r>
          </a:p>
          <a:p>
            <a:pPr>
              <a:spcAft>
                <a:spcPts val="1200"/>
              </a:spcAft>
              <a:defRPr sz="1800"/>
            </a:pPr>
            <a:r>
              <a:t>  • PostgreSQL database running</a:t>
            </a:r>
          </a:p>
          <a:p>
            <a:pPr>
              <a:spcAft>
                <a:spcPts val="1200"/>
              </a:spcAft>
              <a:defRPr sz="1800"/>
            </a:pPr>
            <a:r>
              <a:t>  • Java 11+ installed</a:t>
            </a:r>
          </a:p>
          <a:p>
            <a:pPr>
              <a:spcAft>
                <a:spcPts val="1200"/>
              </a:spcAft>
              <a:defRPr sz="1800"/>
            </a:pPr>
            <a:r>
              <a:t>  • Maven or IDE with Lombok plugin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📦 Quick Start: Run GetreadyApplication.java from IDE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Technical Challenges Overcome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⚙️ Lombok Integration: Annotation processing setup</a:t>
            </a:r>
          </a:p>
          <a:p>
            <a:pPr>
              <a:spcAft>
                <a:spcPts val="1200"/>
              </a:spcAft>
              <a:defRPr sz="1800"/>
            </a:pPr>
            <a:r>
              <a:t>🧠 AI Algorithm Design: Balancing accuracy and performance</a:t>
            </a:r>
          </a:p>
          <a:p>
            <a:pPr>
              <a:spcAft>
                <a:spcPts val="1200"/>
              </a:spcAft>
              <a:defRPr sz="1800"/>
            </a:pPr>
            <a:r>
              <a:t>🔐 Security Configuration: Multi-role authentication flow</a:t>
            </a:r>
          </a:p>
          <a:p>
            <a:pPr>
              <a:spcAft>
                <a:spcPts val="1200"/>
              </a:spcAft>
              <a:defRPr sz="1800"/>
            </a:pPr>
            <a:r>
              <a:t>📁 File Management: Secure handling of resume uploads</a:t>
            </a:r>
          </a:p>
          <a:p>
            <a:pPr>
              <a:spcAft>
                <a:spcPts val="1200"/>
              </a:spcAft>
              <a:defRPr sz="1800"/>
            </a:pPr>
            <a:r>
              <a:t>🗄️ Database Optimization: Query performance tuning</a:t>
            </a:r>
          </a:p>
          <a:p>
            <a:pPr>
              <a:spcAft>
                <a:spcPts val="1200"/>
              </a:spcAft>
              <a:defRPr sz="1800"/>
            </a:pPr>
            <a:r>
              <a:t>🎨 UI/UX Design: Intuitive recruitment workflow</a:t>
            </a:r>
          </a:p>
          <a:p>
            <a:pPr>
              <a:spcAft>
                <a:spcPts val="1200"/>
              </a:spcAft>
              <a:defRPr sz="1800"/>
            </a:pPr>
            <a:r>
              <a:t>🧪 Testing Strategy: Comprehensive validation approach</a:t>
            </a:r>
          </a:p>
          <a:p>
            <a:pPr>
              <a:spcAft>
                <a:spcPts val="1200"/>
              </a:spcAft>
              <a:defRPr sz="1800"/>
            </a:pPr>
            <a:r>
              <a:t>📖 Documentation: Clear guidelines for maintenance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✅ Successfully implemented AI-enabled ATS system</a:t>
            </a:r>
          </a:p>
          <a:p>
            <a:pPr>
              <a:spcAft>
                <a:spcPts val="1200"/>
              </a:spcAft>
              <a:defRPr sz="1800"/>
            </a:pPr>
            <a:r>
              <a:t>🎯 Achieved goal of automated resume screening</a:t>
            </a:r>
          </a:p>
          <a:p>
            <a:pPr>
              <a:spcAft>
                <a:spcPts val="1200"/>
              </a:spcAft>
              <a:defRPr sz="1800"/>
            </a:pPr>
            <a:r>
              <a:t>🏗️ Built scalable Spring Boot architecture</a:t>
            </a:r>
          </a:p>
          <a:p>
            <a:pPr>
              <a:spcAft>
                <a:spcPts val="1200"/>
              </a:spcAft>
              <a:defRPr sz="1800"/>
            </a:pPr>
            <a:r>
              <a:t>🔐 Ensured security with role-based access control</a:t>
            </a:r>
          </a:p>
          <a:p>
            <a:pPr>
              <a:spcAft>
                <a:spcPts val="1200"/>
              </a:spcAft>
              <a:defRPr sz="1800"/>
            </a:pPr>
            <a:r>
              <a:t>📊 Demonstrated practical AI application in HR</a:t>
            </a:r>
          </a:p>
          <a:p>
            <a:pPr>
              <a:spcAft>
                <a:spcPts val="1200"/>
              </a:spcAft>
              <a:defRPr sz="1800"/>
            </a:pPr>
            <a:r>
              <a:t>🚀 Production-ready recruitment management solution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💡 Key Takeaway: AI can significantly improve recruitment</a:t>
            </a:r>
          </a:p>
          <a:p>
            <a:pPr>
              <a:spcAft>
                <a:spcPts val="1200"/>
              </a:spcAft>
              <a:defRPr sz="1800"/>
            </a:pPr>
            <a:r>
              <a:t>   efficiency while maintaining quality and fairness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Questions &amp;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44444"/>
                </a:solidFill>
              </a:defRPr>
            </a:pPr>
            <a:r>
              <a:t>Thank you for your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